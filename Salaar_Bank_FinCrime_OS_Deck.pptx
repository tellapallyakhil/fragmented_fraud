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5303520" cy="5394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6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005840"/>
            <a:ext cx="2926080" cy="36576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🏛️ INSTITUTIONAL DEFENSE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8FAFC"/>
                </a:solidFill>
              </a:defRPr>
            </a:pPr>
            <a:r>
              <a:t>SALAAR FinCrime OS</a:t>
            </a:r>
          </a:p>
          <a:p>
            <a:pPr>
              <a:spcAft>
                <a:spcPts val="1400"/>
              </a:spcAft>
              <a:defRPr sz="1600" b="1">
                <a:solidFill>
                  <a:srgbClr val="06B6D4"/>
                </a:solidFill>
              </a:defRPr>
            </a:pPr>
            <a:r>
              <a:t>Next-Gen Multi-Entity Financial Crime &amp; Autonomous Defense Operating System</a:t>
            </a:r>
          </a:p>
          <a:p>
            <a:pPr>
              <a:spcAft>
                <a:spcPts val="2000"/>
              </a:spcAft>
              <a:defRPr sz="1300">
                <a:solidFill>
                  <a:srgbClr val="94A3B8"/>
                </a:solidFill>
              </a:defRPr>
            </a:pPr>
            <a:r>
              <a:t>Eliminating legacy heuristics with sub-15ms multi-hop topology analysis, pre-transaction behavioral biometrics, and autonomous AI regulatory filing.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⚡ Stack: Next.js 16 • Supabase PostgreSQL • Cytoscape • BioCatch Engine • Multi-Agent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731520"/>
            <a:ext cx="5212080" cy="5394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6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ncrime_hero_network_17884227717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822960"/>
            <a:ext cx="50292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SALAAR BANK • NEXT-GEN FINCRIME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$5.8B Annual Crisis: Why Isolated Rules Fail Modern Banking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91440" cy="2148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💸 Authorised Push Payment (APP) Scams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Victims are socially engineered over phone or WhatsApp to directly copy-paste scammer accounts. Post-login rules have zero visibility into user coercion.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45920"/>
            <a:ext cx="91440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🕸️ Rapid Drain Money Mule Networks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Organized syndicates funnel funds through 5+ accounts and drain &gt;=85% within &lt;15 mins, far outpacing legacy T+1 batch compliance jobs.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91440" cy="21488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9768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📱 Device Farms &amp; Synthetic Personas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Fraud rings operate 20+ accounts from identical browser canvas hardware fingerprints, rotating residential proxies to bypass naive IP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11480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4114800"/>
            <a:ext cx="91440" cy="2148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⚖️ Devastating Regulatory Penalties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Delayed FinCEN &amp; RBI Suspicious Activity Reports (SAR/STR) result in massive compliance fines and operational license suspensions.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SALAAR BANK • NEXT-GEN FINCRIME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Multi-Vector Defense OS: 4 Interconnected Intelligence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46888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PILLAR 1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Knowledge Graph</a:t>
            </a:r>
          </a:p>
          <a:p>
            <a:pPr>
              <a:spcAft>
                <a:spcPts val="1200"/>
              </a:spcAft>
              <a:defRPr sz="1100">
                <a:solidFill>
                  <a:srgbClr val="06B6D4"/>
                </a:solidFill>
              </a:defRPr>
            </a:pPr>
            <a:r>
              <a:t>Heterogeneous Multi-Entity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Correlates Accounts, Users, Devices &amp; Subnets.</a:t>
            </a:r>
            <a:br/>
            <a:r>
              <a:t>• Tarjan's Wash Loop Engine</a:t>
            </a:r>
            <a:br/>
            <a:r>
              <a:t>• Rapid Drain Mule Intercept</a:t>
            </a:r>
            <a:br/>
            <a:r>
              <a:t>• Capital Contagion Radius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4688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554480"/>
            <a:ext cx="24688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PILLAR 2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Biometrics</a:t>
            </a:r>
          </a:p>
          <a:p>
            <a:pPr>
              <a:spcAft>
                <a:spcPts val="1200"/>
              </a:spcAft>
              <a:defRPr sz="1100">
                <a:solidFill>
                  <a:srgbClr val="10B981"/>
                </a:solidFill>
              </a:defRPr>
            </a:pPr>
            <a:r>
              <a:t>Pre-Tx Telemetry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Evaluates risk while typing.</a:t>
            </a:r>
            <a:br/>
            <a:r>
              <a:t>• Keystroke Cadence Entropy</a:t>
            </a:r>
            <a:br/>
            <a:r>
              <a:t>• Clipboard Paste APP Alert</a:t>
            </a:r>
            <a:br/>
            <a:r>
              <a:t>• Haversine Impossible Travel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4688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2468880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A855F7"/>
                </a:solidFill>
              </a:defRPr>
            </a:pPr>
            <a:r>
              <a:t>PILLAR 3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Sanctions &amp; PEP</a:t>
            </a:r>
          </a:p>
          <a:p>
            <a:pPr>
              <a:spcAft>
                <a:spcPts val="1200"/>
              </a:spcAft>
              <a:defRPr sz="1100">
                <a:solidFill>
                  <a:srgbClr val="A855F7"/>
                </a:solidFill>
              </a:defRPr>
            </a:pPr>
            <a:r>
              <a:t>Watchlist Screener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Compliance-grade checks.</a:t>
            </a:r>
            <a:br/>
            <a:r>
              <a:t>• Jaro-Winkler Phonetic Match</a:t>
            </a:r>
            <a:br/>
            <a:r>
              <a:t>• OFAC SDN &amp; PEP Lists</a:t>
            </a:r>
            <a:br/>
            <a:r>
              <a:t>• ISO 20022 pacs.008 Parser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554480"/>
            <a:ext cx="24688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554480"/>
            <a:ext cx="246888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78308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B82F6"/>
                </a:solidFill>
              </a:defRPr>
            </a:pPr>
            <a:r>
              <a:t>PILLAR 4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Autonomous FIU</a:t>
            </a:r>
          </a:p>
          <a:p>
            <a:pPr>
              <a:spcAft>
                <a:spcPts val="1200"/>
              </a:spcAft>
              <a:defRPr sz="1100">
                <a:solidFill>
                  <a:srgbClr val="3B82F6"/>
                </a:solidFill>
              </a:defRPr>
            </a:pPr>
            <a:r>
              <a:t>AI Multi-Agent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Autonomous containment.</a:t>
            </a:r>
            <a:br/>
            <a:r>
              <a:t>• 1-Click Cluster Quarantine</a:t>
            </a:r>
            <a:br/>
            <a:r>
              <a:t>• Auto-SAR Legal Filing</a:t>
            </a:r>
            <a:br/>
            <a:r>
              <a:t>• BSA 31 U.S.C. 5318(g)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SALAAR BANK • NEXT-GEN FINCRIME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Pillar 1: Heterogeneous Graph &amp; Money Mule Ring Topologies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85216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🔄 Tarjan's Directed Cycle Detection (Wash Trading)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Detects circular money wash loops (A -&gt; B -&gt; C -&gt; D -&gt; A) in real-time O(V+E) time to uncover volume inflation and money laundering circuits.</a:t>
            </a:r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⚡ Rapid Drain / Pass-Through Mule Interceptor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Mathematical signature: Outflow &gt;= 85% of fresh inflow within Delta_T &lt;= 15 minutes. Automatically flags intermediary transit mules.</a:t>
            </a:r>
          </a:p>
          <a:p>
            <a:pPr>
              <a:defRPr sz="1300" b="1">
                <a:solidFill>
                  <a:srgbClr val="A855F7"/>
                </a:solidFill>
              </a:defRPr>
            </a:pPr>
            <a:r>
              <a:t>📱 Multi-Hop Hardware Syndicate Resolution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Links disparate accounts sharing identical browser canvas hashes, IMEIs, or /24 subnet footprints into connected criminal syndicates.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💥 Topological Blast Radius Calculation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Quantifies the total monetary contagion (₹ capital at risk) across 2-hop neighbor networks during syndicate outbreaks.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554480"/>
            <a:ext cx="46634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ncrime_hero_network_17884227717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4805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SALAAR BANK • NEXT-GEN FINCRIME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Pillar 2: Behavioral Biometrics &amp; Pre-Transaction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6634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iometrics_telemetry_hud_17884227976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448056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77840" y="1554480"/>
            <a:ext cx="585216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73736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⌨️ Keystroke Dynamics &amp; Cadence Entropy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Analyzes key flight times and dwell times. Automated bot scripts exhibit sub-human variance (&lt;6ms) compared to natural human typing jitter.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📋 Real-Time Clipboard Paste Intercept (BioCatch)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92% of APP scam victims copy-paste account numbers from scam phone/WhatsApp chats. Real-time DOM listeners trigger interactive scam warnings.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✈️ Haversine Impossible Travel Velocity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Calculates great-circle physical speed between consecutive GPS/IP coordinates. Physical speeds exceeding 800 km/h trigger instant ATO locks.</a:t>
            </a:r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⏱️ Hesitation &amp; Form Dwelling Index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Measures dwell pauses and cursor hesitation bursts prior to authorization, detecting active social engineering coercion.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SALAAR BANK • NEXT-GEN FINCRIME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Pillar 3: Sanctions Screening &amp; Explainable Multi-Vector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📐 Explainable Dynamic Risk Formula (0-100)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Graph Topology Risk (30%): Cycles, Rapid Drain, In-Degree Centrality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Behavioral Biometrics (25%): Keystroke Entropy, Paste Detection, Geo-Velocity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Sanctions &amp; PEP (20%): Jaro-Winkler Watchlist Hit Confidence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AML Structuring (15%): Sub-Threshold PAN Limit Clustering (e.g. ₹49,999)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Balance Depletion (10%): &gt;90% Account Balance Drain Ratio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A855F7"/>
                </a:solidFill>
              </a:defRPr>
            </a:pPr>
            <a:r>
              <a:t>⚖️ Jaro-Winkler Sanctions &amp; Reason Codes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OFAC &amp; PEP Fuzzy Matching:</a:t>
            </a:r>
            <a:br/>
            <a:r>
              <a:t>  Jaro-Winkler phonetic similarity matches obfuscated aliases (e.g. 'Al-Hassan Corp' vs 'Alhasan Trade').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Standardized Reason Codes:</a:t>
            </a:r>
            <a:br/>
            <a:r>
              <a:t>  MULE_RAPID_DRAIN, DEVICE_COLLUSION_SYNDICATE, PASTE_ATTACK_APP_FRAUD, SANCTIONS_WATCHLIST_HIT.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Dynamic Tier Actions:</a:t>
            </a:r>
            <a:br/>
            <a:r>
              <a:t>  Low (&lt;35) -&gt; Instant Allow</a:t>
            </a:r>
            <a:br/>
            <a:r>
              <a:t>Med (35-74) -&gt; WhatsApp OTP Challenge</a:t>
            </a:r>
            <a:br/>
            <a:r>
              <a:t>High (&gt;=75) -&gt; Auto-Quarantine &amp; SAR Filing.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SALAAR BANK • NEXT-GEN FINCRIME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Pillar 4: Autonomous AI Financial Intelligence Unit &amp; SAR Filing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85216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🔍 FORENSIC AGENT (Topology Crawler)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Crawls multi-hop graph relationships, compiles transaction chronologies, correlates hardware footprints, and computes infected blast radius.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☣️ CONTAINMENT AGENT (Blast-Radius Quarantine)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Executes 1-click simultaneous liquidity freezes across all correlated accounts in the contagion ring to prevent fund flight.</a:t>
            </a:r>
          </a:p>
          <a:p>
            <a:pPr>
              <a:defRPr sz="1300" b="1">
                <a:solidFill>
                  <a:srgbClr val="A855F7"/>
                </a:solidFill>
              </a:defRPr>
            </a:pPr>
            <a:r>
              <a:t>📄 COMPLIANCE AGENT (Automated SAR/STR Filing)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Auto-drafts official Suspicious Activity Reports (SAR / STR) with complete legal narratives and statutory citations (BSA 31 U.S.C. 5318(g), PMLA).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554480"/>
            <a:ext cx="46634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u_war_room_17884228228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4805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SALAAR BANK • NEXT-GEN FINCRIME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Business Impact, Benchmarks &amp; Live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&lt; 15 ms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Real-Time Decision 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92% Drop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Manual SAR Filing Effort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55F7"/>
                </a:solidFill>
              </a:defRPr>
            </a:pPr>
            <a:r>
              <a:t>100% Contagion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Blast Radius Containment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5448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Zero Hardcoding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Dynamic Graph Inference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698480" cy="2743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🧪 Live Verification &amp; Demonstration Flow: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1. User Dashboard (/user/dashboard): Initiate transfer &amp; paste recipient -&gt; BioCatch scam alert triggers immediately.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2. Multi-Entity Intelligence Graph (/network): Inspect live heterogeneous graph with accounts, devices, IPs, and Tarjan wash cycles.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3. OFAC / PEP Sanctions Screener: Fuzzy search 'Al-Hassan' or 'Viktor Antonov' to demonstrate Jaro-Winkler phonetic matching.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4. Autonomous FIU War Room: Click 'Generate SAR' to view official FinCEN/RBI legal filing or trigger 'Quarantine Blast Radius'.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