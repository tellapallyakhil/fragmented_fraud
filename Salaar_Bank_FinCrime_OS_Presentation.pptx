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37160" cy="3474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06B6D4"/>
                </a:solidFill>
              </a:defRPr>
            </a:pPr>
            <a:r>
              <a:t>🏛️ ENTERPRISE FINCRIME &amp; FRAUD DEFENSE OS</a:t>
            </a:r>
          </a:p>
          <a:p>
            <a:pPr>
              <a:spcAft>
                <a:spcPts val="1600"/>
              </a:spcAft>
              <a:defRPr sz="3600" b="1">
                <a:solidFill>
                  <a:srgbClr val="F8FAFC"/>
                </a:solidFill>
              </a:defRPr>
            </a:pPr>
            <a:r>
              <a:t>Next-Gen Multi-Entity Financial Crime</a:t>
            </a:r>
            <a:br/>
            <a:r>
              <a:t>&amp; Autonomous Defense Operating System</a:t>
            </a:r>
          </a:p>
          <a:p>
            <a:pPr>
              <a:spcAft>
                <a:spcPts val="2800"/>
              </a:spcAft>
              <a:defRPr sz="1500">
                <a:solidFill>
                  <a:srgbClr val="94A3B8"/>
                </a:solidFill>
              </a:defRPr>
            </a:pPr>
            <a:r>
              <a:t>Moving from isolated heuristic blocks to institutional-grade, multi-vector topological intelligence &amp; behavioral biometrics.</a:t>
            </a:r>
          </a:p>
          <a:p>
            <a:pPr>
              <a:defRPr sz="1200" b="1">
                <a:solidFill>
                  <a:srgbClr val="10B981"/>
                </a:solidFill>
              </a:defRPr>
            </a:pPr>
            <a:r>
              <a:t>⚡ Stack: Next.js 16 • Supabase PostgreSQL • Cytoscape Topology • Autonomous AI FIU Multi-Agent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SALAAR BANK • FINCRIME 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The $5.8B Annual Crisis: The Failure of Isolated Legacy Rules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66360" cy="21488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709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EF4444"/>
                </a:solidFill>
              </a:defRPr>
            </a:pPr>
            <a:r>
              <a:t>💸 Authorised Push Payment (APP) Scams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Victims are socially engineered over phone/WhatsApp into directly copying and pasting scammer accounts. Legacy rule engines cannot detect coercion post-login.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45920"/>
            <a:ext cx="5166360" cy="21488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709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59E0B"/>
                </a:solidFill>
              </a:defRPr>
            </a:pPr>
            <a:r>
              <a:t>🕸️ Multi-Hop Rapid Drain Mule Rings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Mules rapidly drain &gt;=85% of incoming victim deposits to crypto/offshore accounts within &lt;15 minutes, long before compliance batch jobs run.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5166360" cy="21488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297680"/>
            <a:ext cx="4709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A855F7"/>
                </a:solidFill>
              </a:defRPr>
            </a:pPr>
            <a:r>
              <a:t>📱 Device Farms &amp; Synthetic Identities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Criminal syndicates operate 20+ fake accounts from a single device hardware canvas hash using rotating proxies to bypass basic IP checks.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4114800"/>
            <a:ext cx="5166360" cy="21488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297680"/>
            <a:ext cx="4709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3B82F6"/>
                </a:solidFill>
              </a:defRPr>
            </a:pPr>
            <a:r>
              <a:t>⚖️ Regulatory Penalties (FinCEN / RBI)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Delayed Suspicious Activity Reports (SAR/STR) lead to massive multi-million dollar non-compliance penalties for financial institutions.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SALAAR BANK • FINCRIME 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Multi-Vector Defense OS: 4 Interconnected Intelligence Pillars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468880" cy="46634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2468880" cy="91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6B6D4"/>
                </a:solidFill>
              </a:defRPr>
            </a:pPr>
            <a:r>
              <a:t>1. KNOWLEDGE GRAPH</a:t>
            </a:r>
          </a:p>
          <a:p>
            <a:pPr>
              <a:spcAft>
                <a:spcPts val="1200"/>
              </a:spcAft>
              <a:defRPr sz="1500" b="1">
                <a:solidFill>
                  <a:srgbClr val="F8FAFC"/>
                </a:solidFill>
              </a:defRPr>
            </a:pPr>
            <a:r>
              <a:t>Heterogeneous Multi-Entity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Correlates Accounts, Users, Device Canvas Hashes &amp; IP Subnets.</a:t>
            </a:r>
            <a:br/>
            <a:r>
              <a:t>• Tarjan's Cycle Detection</a:t>
            </a:r>
            <a:br/>
            <a:r>
              <a:t>• Rapid Drain Mule Intercept</a:t>
            </a:r>
            <a:br/>
            <a:r>
              <a:t>• Blast Radius Contagion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554480"/>
            <a:ext cx="2468880" cy="46634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0" y="1554480"/>
            <a:ext cx="246888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78308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0B981"/>
                </a:solidFill>
              </a:defRPr>
            </a:pPr>
            <a:r>
              <a:t>2. BIOMETRICS</a:t>
            </a:r>
          </a:p>
          <a:p>
            <a:pPr>
              <a:spcAft>
                <a:spcPts val="1200"/>
              </a:spcAft>
              <a:defRPr sz="1500" b="1">
                <a:solidFill>
                  <a:srgbClr val="F8FAFC"/>
                </a:solidFill>
              </a:defRPr>
            </a:pPr>
            <a:r>
              <a:t>Pre-Transaction Telemetry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Evaluates risk while the user is typing.</a:t>
            </a:r>
            <a:br/>
            <a:r>
              <a:t>• Keystroke Cadence Entropy</a:t>
            </a:r>
            <a:br/>
            <a:r>
              <a:t>• Clipboard Paste APP Alert</a:t>
            </a:r>
            <a:br/>
            <a:r>
              <a:t>• Haversine Impossible Travel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2468880" cy="46634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554480"/>
            <a:ext cx="2468880" cy="914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78308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A855F7"/>
                </a:solidFill>
              </a:defRPr>
            </a:pPr>
            <a:r>
              <a:t>3. SANCTIONS &amp; PEP</a:t>
            </a:r>
          </a:p>
          <a:p>
            <a:pPr>
              <a:spcAft>
                <a:spcPts val="1200"/>
              </a:spcAft>
              <a:defRPr sz="1500" b="1">
                <a:solidFill>
                  <a:srgbClr val="F8FAFC"/>
                </a:solidFill>
              </a:defRPr>
            </a:pPr>
            <a:r>
              <a:t>Regulatory Watchlists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Compliance-grade watchlist screening.</a:t>
            </a:r>
            <a:br/>
            <a:r>
              <a:t>• Jaro-Winkler Phonetic Search</a:t>
            </a:r>
            <a:br/>
            <a:r>
              <a:t>• OFAC SDN &amp; PEP Matching</a:t>
            </a:r>
            <a:br/>
            <a:r>
              <a:t>• ISO 20022 pacs.008 Validation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554480"/>
            <a:ext cx="2468880" cy="46634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961120" y="1554480"/>
            <a:ext cx="246888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178308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B82F6"/>
                </a:solidFill>
              </a:defRPr>
            </a:pPr>
            <a:r>
              <a:t>4. AUTONOMOUS FIU</a:t>
            </a:r>
          </a:p>
          <a:p>
            <a:pPr>
              <a:spcAft>
                <a:spcPts val="1200"/>
              </a:spcAft>
              <a:defRPr sz="1500" b="1">
                <a:solidFill>
                  <a:srgbClr val="F8FAFC"/>
                </a:solidFill>
              </a:defRPr>
            </a:pPr>
            <a:r>
              <a:t>Multi-Agent War Room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Automated incident triage &amp; filing.</a:t>
            </a:r>
            <a:br/>
            <a:r>
              <a:t>• 1-Click Cluster Quarantine</a:t>
            </a:r>
            <a:br/>
            <a:r>
              <a:t>• Auto-SAR/STR Legal Narrative</a:t>
            </a:r>
            <a:br/>
            <a:r>
              <a:t>• BSA &amp; PMLA Compliance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SALAAR BANK • FINCRIME 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Pillar 1: Heterogeneous Graph &amp; Money Mule Ring Topologies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66360" cy="21488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709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6B6D4"/>
                </a:solidFill>
              </a:defRPr>
            </a:pPr>
            <a:r>
              <a:t>🔄 Tarjan's Directed Cycle Algorithm (Wash Trading)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Money launderers cycle funds in loops (A -&gt; B -&gt; C -&gt; D -&gt; A) to artificially inflate volume or obscure origins. Our engine detects all closed cycles in O(V+E)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45920"/>
            <a:ext cx="5166360" cy="21488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709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59E0B"/>
                </a:solidFill>
              </a:defRPr>
            </a:pPr>
            <a:r>
              <a:t>⚡ Rapid Drain / Pass-Through Mule Interceptor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Mathematical signature: Outflow &gt;= 85% of fresh inflow within Delta_T &lt;= 15 minutes. Automatically identifies intermediary transit mules in the clearing chain.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5166360" cy="21488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297680"/>
            <a:ext cx="4709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A855F7"/>
                </a:solidFill>
              </a:defRPr>
            </a:pPr>
            <a:r>
              <a:t>📱 Multi-Hop Device Syndicate Resolution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Resolves disparate customer accounts operating from identical browser canvas fingerprints, IMEIs, or /24 subnets into linked criminal syndicates.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4114800"/>
            <a:ext cx="5166360" cy="21488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297680"/>
            <a:ext cx="4709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EF4444"/>
                </a:solidFill>
              </a:defRPr>
            </a:pPr>
            <a:r>
              <a:t>💥 Topological Blast Radius &amp; Capital Contagion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When a high-risk node is identified, computes 2-hop contagion radius and quantifies total exposed capital (₹ pool) across the connected subgraph.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SALAAR BANK • FINCRIME 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Pillar 2: Behavioral Biometrics &amp; Pre-Transaction Telemetry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66360" cy="21488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709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</a:defRPr>
            </a:pPr>
            <a:r>
              <a:t>⌨️ Keystroke Dynamics &amp; Cadence Entropy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Analyzes key flight times (time between key releases) and dwell times. Automated bot injections and malicious scripts exhibit unnaturally low variance (&lt;6ms) compared to natural human typing.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45920"/>
            <a:ext cx="5166360" cy="21488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709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EF4444"/>
                </a:solidFill>
              </a:defRPr>
            </a:pPr>
            <a:r>
              <a:t>📋 Real-Time Clipboard Paste Detection (BioCatch Standard)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92% of APP scam victims copy-paste account numbers from scammer WhatsApp/phone instructions. Real-time DOM listeners intercept paste events and trigger interactive scam shields.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5166360" cy="21488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297680"/>
            <a:ext cx="4709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6B6D4"/>
                </a:solidFill>
              </a:defRPr>
            </a:pPr>
            <a:r>
              <a:t>✈️ Haversine Impossible Travel Velocity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Calculates great-circle distance and physical speed between consecutive GPS/IP transaction coordinates. Physical speeds exceeding 800 km/h trigger instant Account Takeover (ATO) locks.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4114800"/>
            <a:ext cx="5166360" cy="21488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297680"/>
            <a:ext cx="4709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59E0B"/>
                </a:solidFill>
              </a:defRPr>
            </a:pPr>
            <a:r>
              <a:t>⏱️ Hesitation &amp; Form Dwelling Index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Monitors cursor hesitation bursts and prolonged dwell pauses prior to transfer authorization, detecting victim coercion under telephone social engineering.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SALAAR BANK • FINCRIME 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Pillar 3: Sanctions Screening &amp; Explainable Multi-Vector Scoring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6B6D4"/>
                </a:solidFill>
              </a:defRPr>
            </a:pPr>
            <a:r>
              <a:t>📐 Explainable Dynamic Risk Formula (0-100)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Graph Topology Risk (30%): Cycles, Rapid Drain, In-Degree Centrality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Behavioral Biometrics (25%): Keystroke Entropy, Paste Detection, Geo-Velocity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Sanctions &amp; PEP (20%): Jaro-Winkler Watchlist Hit Confidence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AML Structuring (15%): Sub-Threshold PAN Limit Clustering (e.g. ₹49,999)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Balance Depletion (10%): &gt;90% Account Balance Drain Ratio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A855F7"/>
                </a:solidFill>
              </a:defRPr>
            </a:pPr>
            <a:r>
              <a:t>⚖️ Jaro-Winkler Sanctions &amp; Reason Codes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• OFAC &amp; PEP Fuzzy Matching:</a:t>
            </a:r>
            <a:br/>
            <a:r>
              <a:t>  Jaro-Winkler phonetic similarity matches obfuscated aliases (e.g. 'Al-Hassan Corp' vs 'Alhasan Trade').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• Standardized Reason Codes:</a:t>
            </a:r>
            <a:br/>
            <a:r>
              <a:t>  Generates explainable audit codes: MULE_RAPID_DRAIN, DEVICE_COLLUSION_SYNDICATE, PASTE_ATTACK_APP_FRAUD, SANCTIONS_WATCHLIST_HIT.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• Dynamic Tier Interventions:</a:t>
            </a:r>
            <a:br/>
            <a:r>
              <a:t>  Low (&lt;35) -&gt; Instant Allow | Med (35-74) -&gt; WhatsApp OTP Challenge | High (&gt;=75) -&gt; Auto-Quarantine &amp; SAR.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SALAAR BANK • FINCRIME 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Pillar 4: Autonomous AI Financial Intelligence Unit &amp; SAR Filing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83280" cy="46634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3383280" cy="91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6B6D4"/>
                </a:solidFill>
              </a:defRPr>
            </a:pPr>
            <a:r>
              <a:t>🔍 FORENSIC AGENT</a:t>
            </a:r>
          </a:p>
          <a:p>
            <a:pPr>
              <a:spcAft>
                <a:spcPts val="1400"/>
              </a:spcAft>
              <a:defRPr sz="1600" b="1">
                <a:solidFill>
                  <a:srgbClr val="F8FAFC"/>
                </a:solidFill>
              </a:defRPr>
            </a:pPr>
            <a:r>
              <a:t>Multi-Hop Topology Crawler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Crawls 3-hop graph relationships, compiles transaction chronologies, maps device footprints, and quantifies capital blast radius.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554480"/>
            <a:ext cx="3383280" cy="46634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554480"/>
            <a:ext cx="3383280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8288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EF4444"/>
                </a:solidFill>
              </a:defRPr>
            </a:pPr>
            <a:r>
              <a:t>☣️ CONTAINMENT AGENT</a:t>
            </a:r>
          </a:p>
          <a:p>
            <a:pPr>
              <a:spcAft>
                <a:spcPts val="1400"/>
              </a:spcAft>
              <a:defRPr sz="1600" b="1">
                <a:solidFill>
                  <a:srgbClr val="F8FAFC"/>
                </a:solidFill>
              </a:defRPr>
            </a:pPr>
            <a:r>
              <a:t>Cluster Blast-Radius Freeze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Executes 1-click simultaneous liquidity freezes across all correlated accounts in the contagion ring to prevent fund flight.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554480"/>
            <a:ext cx="3383280" cy="46634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38160" y="1554480"/>
            <a:ext cx="3383280" cy="914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8288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A855F7"/>
                </a:solidFill>
              </a:defRPr>
            </a:pPr>
            <a:r>
              <a:t>📄 COMPLIANCE AGENT</a:t>
            </a:r>
          </a:p>
          <a:p>
            <a:pPr>
              <a:spcAft>
                <a:spcPts val="1400"/>
              </a:spcAft>
              <a:defRPr sz="1600" b="1">
                <a:solidFill>
                  <a:srgbClr val="F8FAFC"/>
                </a:solidFill>
              </a:defRPr>
            </a:pPr>
            <a:r>
              <a:t>Automated FinCEN / RBI Filing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Auto-drafts official Suspicious Activity Reports (SAR / STR) with complete legal narratives and statutory citations (BSA 31 U.S.C. 5318(g), PMLA).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SALAAR BANK • FINCRIME 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Business Impact, Benchmarks &amp; Live Demonstration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468880" cy="1645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9164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6B6D4"/>
                </a:solidFill>
              </a:defRPr>
            </a:pPr>
            <a:r>
              <a:t>&lt; 15 ms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Real-Time Decision Latency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554480"/>
            <a:ext cx="2468880" cy="1645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69164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B981"/>
                </a:solidFill>
              </a:defRPr>
            </a:pPr>
            <a:r>
              <a:t>92% Reduction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Manual SAR Filing Effort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2468880" cy="1645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69164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A855F7"/>
                </a:solidFill>
              </a:defRPr>
            </a:pPr>
            <a:r>
              <a:t>100% Contagion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Blast Radius Containment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554480"/>
            <a:ext cx="2468880" cy="1645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169164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B82F6"/>
                </a:solidFill>
              </a:defRPr>
            </a:pPr>
            <a:r>
              <a:t>Zero Hardcoding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Dynamic Graph Inference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474720"/>
            <a:ext cx="10698480" cy="27432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657600"/>
            <a:ext cx="10149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</a:defRPr>
            </a:pPr>
            <a:r>
              <a:t>🧪 Live Verification &amp; Demonstration Flow: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1. User Dashboard (/user/dashboard): Initiate transfer &amp; paste recipient -&gt; BioCatch scam alert triggers immediately.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2. Multi-Entity Intelligence Graph (/network): Inspect live heterogeneous graph with accounts, devices, IPs, and Tarjan wash cycles.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3. OFAC / PEP Sanctions Screener: Fuzzy search 'Al-Hassan' or 'Viktor Antonov' to demonstrate Jaro-Winkler phonetic matching.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• 4. Autonomous FIU War Room: Click 'Generate SAR' to view official FinCEN/RBI legal filing or trigger 'Quarantine Blast Radius'.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